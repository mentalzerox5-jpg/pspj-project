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2796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entalzerox5-jpg/PSPJ-PROJECT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mentalzerox5-jpg/PSPJ-PROJECT/blob/main/photo_2026-09-21%2010.08.10.jpeg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8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0C4A6E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572000"/>
            <a:ext cx="3657600" cy="3657600"/>
          </a:xfrm>
          <a:prstGeom prst="ellipse">
            <a:avLst/>
          </a:prstGeom>
          <a:solidFill>
            <a:srgbClr val="4C1D95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0" y="4114800"/>
            <a:ext cx="2011680" cy="2011680"/>
          </a:xfrm>
          <a:prstGeom prst="ellipse">
            <a:avLst/>
          </a:prstGeom>
          <a:solidFill>
            <a:srgbClr val="0E7490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731520"/>
            <a:ext cx="54864" cy="54864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200400" y="100584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98080" y="548640"/>
            <a:ext cx="45720" cy="45720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235440" y="128016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0" y="2011680"/>
            <a:ext cx="45720" cy="45720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92608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0" y="2560320"/>
            <a:ext cx="27432" cy="27432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0" y="3200400"/>
            <a:ext cx="45720" cy="45720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15600" y="347472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828800" y="5029200"/>
            <a:ext cx="45720" cy="45720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0" y="566928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0" y="5303520"/>
            <a:ext cx="54864" cy="54864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430000" y="594360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6217920"/>
            <a:ext cx="27432" cy="27432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0" y="1371600"/>
            <a:ext cx="5029200" cy="5029200"/>
          </a:xfrm>
          <a:prstGeom prst="ellipse">
            <a:avLst/>
          </a:prstGeom>
          <a:solidFill>
            <a:srgbClr val="0C4A6E">
              <a:alpha val="2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686800" y="2286000"/>
            <a:ext cx="2926080" cy="2926080"/>
          </a:xfrm>
          <a:prstGeom prst="ellipse">
            <a:avLst/>
          </a:prstGeom>
          <a:solidFill>
            <a:srgbClr val="164E63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789920" y="365760"/>
            <a:ext cx="137160" cy="1371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1155680" y="640080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0" y="822960"/>
            <a:ext cx="73152" cy="73152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13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Store</a:t>
            </a:r>
            <a:endParaRPr lang="en-US" sz="4200" dirty="0"/>
          </a:p>
        </p:txBody>
      </p:sp>
      <p:sp>
        <p:nvSpPr>
          <p:cNvPr id="29" name="Text 27"/>
          <p:cNvSpPr/>
          <p:nvPr/>
        </p:nvSpPr>
        <p:spPr>
          <a:xfrm>
            <a:off x="64008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 &amp; Order Pipeline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64008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Java-based e-commerce simulation covering CO1 – CO6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" y="393192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0F1B33"/>
          </a:solidFill>
          <a:ln w="15240">
            <a:solidFill>
              <a:srgbClr val="155E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4160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ALLU SHARAN TEJ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14400" y="46177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2620030461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4400" y="493776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035040" y="3931920"/>
            <a:ext cx="5394960" cy="1417320"/>
          </a:xfrm>
          <a:prstGeom prst="roundRect">
            <a:avLst>
              <a:gd name="adj" fmla="val 7742"/>
            </a:avLst>
          </a:prstGeom>
          <a:solidFill>
            <a:srgbClr val="0F1B33"/>
          </a:solidFill>
          <a:ln w="15240">
            <a:solidFill>
              <a:srgbClr val="155E7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4160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ABBARAJU SHANMUKHA SRIRAM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309360" y="46177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2620030507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309360" y="493776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" y="57607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Solving Using Programming (Java)  ·  26SC1101E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DFC3F5-E32B-E9C0-0A9C-673E41AA5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292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8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0C4A6E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572000"/>
            <a:ext cx="3657600" cy="3657600"/>
          </a:xfrm>
          <a:prstGeom prst="ellipse">
            <a:avLst/>
          </a:prstGeom>
          <a:solidFill>
            <a:srgbClr val="4C1D95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0" y="4114800"/>
            <a:ext cx="2011680" cy="2011680"/>
          </a:xfrm>
          <a:prstGeom prst="ellipse">
            <a:avLst/>
          </a:prstGeom>
          <a:solidFill>
            <a:srgbClr val="0E7490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731520"/>
            <a:ext cx="54864" cy="54864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200400" y="100584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98080" y="548640"/>
            <a:ext cx="45720" cy="45720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235440" y="128016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0" y="2011680"/>
            <a:ext cx="45720" cy="45720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92608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0" y="2560320"/>
            <a:ext cx="27432" cy="27432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0" y="3200400"/>
            <a:ext cx="45720" cy="45720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15600" y="347472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828800" y="5029200"/>
            <a:ext cx="45720" cy="45720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0" y="566928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0" y="5303520"/>
            <a:ext cx="54864" cy="54864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430000" y="594360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6217920"/>
            <a:ext cx="27432" cy="27432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6565392"/>
            <a:ext cx="11430000" cy="1097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60196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Store Cart &amp; Order Pipeline   ·   Team 13   ·   26SC1101E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274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5486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457200" y="1188720"/>
            <a:ext cx="11247120" cy="4846320"/>
          </a:xfrm>
          <a:prstGeom prst="roundRect">
            <a:avLst>
              <a:gd name="adj" fmla="val 2264"/>
            </a:avLst>
          </a:prstGeom>
          <a:solidFill>
            <a:srgbClr val="0F1B33"/>
          </a:solidFill>
          <a:ln w="12700">
            <a:solidFill>
              <a:srgbClr val="1A2D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155448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Online Store Cart &amp; Order Pipeline is a Java-based application that simulates a real-world e-commerce platform. It allows users to register, browse products, add items to a shopping cart, place orders, complete a secure checkout, and track order status in real time.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manages the complete order pipeline — from cart to payment confirmation and delivery tracking. Built using core Java programming concepts across CO1 to CO6, the project demonstrates computational thinking, object-oriented design, collections, streams, and file persistence in a practical shopping domain.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8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0C4A6E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572000"/>
            <a:ext cx="3657600" cy="3657600"/>
          </a:xfrm>
          <a:prstGeom prst="ellipse">
            <a:avLst/>
          </a:prstGeom>
          <a:solidFill>
            <a:srgbClr val="4C1D95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0" y="4114800"/>
            <a:ext cx="2011680" cy="2011680"/>
          </a:xfrm>
          <a:prstGeom prst="ellipse">
            <a:avLst/>
          </a:prstGeom>
          <a:solidFill>
            <a:srgbClr val="0E7490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731520"/>
            <a:ext cx="54864" cy="54864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200400" y="100584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98080" y="548640"/>
            <a:ext cx="45720" cy="45720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235440" y="128016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0" y="2011680"/>
            <a:ext cx="45720" cy="45720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92608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0" y="2560320"/>
            <a:ext cx="27432" cy="27432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0" y="3200400"/>
            <a:ext cx="45720" cy="45720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15600" y="347472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828800" y="5029200"/>
            <a:ext cx="45720" cy="45720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0" y="566928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0" y="5303520"/>
            <a:ext cx="54864" cy="54864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430000" y="594360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6217920"/>
            <a:ext cx="27432" cy="27432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6565392"/>
            <a:ext cx="11430000" cy="1097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60196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Store Cart &amp; Order Pipeline   ·   Team 13   ·   26SC1101E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2286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Challenge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457200" y="1097280"/>
            <a:ext cx="5623560" cy="2240280"/>
          </a:xfrm>
          <a:prstGeom prst="roundRect">
            <a:avLst>
              <a:gd name="adj" fmla="val 4898"/>
            </a:avLst>
          </a:prstGeom>
          <a:solidFill>
            <a:srgbClr val="0F1B33"/>
          </a:solidFill>
          <a:ln w="12700">
            <a:solidFill>
              <a:srgbClr val="1A2D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1371600"/>
            <a:ext cx="640080" cy="320040"/>
          </a:xfrm>
          <a:prstGeom prst="roundRect">
            <a:avLst>
              <a:gd name="adj" fmla="val 17143"/>
            </a:avLst>
          </a:prstGeom>
          <a:solidFill>
            <a:srgbClr val="22D3EE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13716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0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" y="1874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Shopping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1520" y="23317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need an easy way to browse products, manage a cart and complete purchases online.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09360" y="1097280"/>
            <a:ext cx="5623560" cy="2240280"/>
          </a:xfrm>
          <a:prstGeom prst="roundRect">
            <a:avLst>
              <a:gd name="adj" fmla="val 4898"/>
            </a:avLst>
          </a:prstGeom>
          <a:solidFill>
            <a:srgbClr val="0F1B33"/>
          </a:solidFill>
          <a:ln w="12700">
            <a:solidFill>
              <a:srgbClr val="1A2D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0" y="1371600"/>
            <a:ext cx="640080" cy="320040"/>
          </a:xfrm>
          <a:prstGeom prst="roundRect">
            <a:avLst>
              <a:gd name="adj" fmla="val 17143"/>
            </a:avLst>
          </a:prstGeom>
          <a:solidFill>
            <a:srgbClr val="FB923C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13716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0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83680" y="1874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Pipeline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83680" y="23317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must handle registration, catalog, cart, payment simulation and order tracking.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7200" y="3566160"/>
            <a:ext cx="5623560" cy="2240280"/>
          </a:xfrm>
          <a:prstGeom prst="roundRect">
            <a:avLst>
              <a:gd name="adj" fmla="val 4898"/>
            </a:avLst>
          </a:prstGeom>
          <a:solidFill>
            <a:srgbClr val="0F1B33"/>
          </a:solidFill>
          <a:ln w="12700">
            <a:solidFill>
              <a:srgbClr val="1A2D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0" y="3840480"/>
            <a:ext cx="640080" cy="320040"/>
          </a:xfrm>
          <a:prstGeom prst="roundRect">
            <a:avLst>
              <a:gd name="adj" fmla="val 17143"/>
            </a:avLst>
          </a:prstGeom>
          <a:solidFill>
            <a:srgbClr val="34D399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" y="38404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0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31520" y="4343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Integrity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31520" y="48006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operations must be reliable, maintain correct state and give clear status feedback.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309360" y="3566160"/>
            <a:ext cx="5623560" cy="2240280"/>
          </a:xfrm>
          <a:prstGeom prst="roundRect">
            <a:avLst>
              <a:gd name="adj" fmla="val 4898"/>
            </a:avLst>
          </a:prstGeom>
          <a:solidFill>
            <a:srgbClr val="0F1B33"/>
          </a:solidFill>
          <a:ln w="12700">
            <a:solidFill>
              <a:srgbClr val="1A2D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83680" y="3840480"/>
            <a:ext cx="640080" cy="320040"/>
          </a:xfrm>
          <a:prstGeom prst="roundRect">
            <a:avLst>
              <a:gd name="adj" fmla="val 17143"/>
            </a:avLst>
          </a:prstGeom>
          <a:solidFill>
            <a:srgbClr val="A78BFA"/>
          </a:solidFill>
          <a:ln/>
        </p:spPr>
      </p:sp>
      <p:sp>
        <p:nvSpPr>
          <p:cNvPr id="44" name="Text 42"/>
          <p:cNvSpPr/>
          <p:nvPr/>
        </p:nvSpPr>
        <p:spPr>
          <a:xfrm>
            <a:off x="6583680" y="38404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0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583680" y="4343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Coverage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583680" y="48006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must demonstrate progressive Java skills from basic I/O to collections &amp; streams.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8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0C4A6E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572000"/>
            <a:ext cx="3657600" cy="3657600"/>
          </a:xfrm>
          <a:prstGeom prst="ellipse">
            <a:avLst/>
          </a:prstGeom>
          <a:solidFill>
            <a:srgbClr val="4C1D95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0" y="4114800"/>
            <a:ext cx="2011680" cy="2011680"/>
          </a:xfrm>
          <a:prstGeom prst="ellipse">
            <a:avLst/>
          </a:prstGeom>
          <a:solidFill>
            <a:srgbClr val="0E7490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731520"/>
            <a:ext cx="54864" cy="54864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200400" y="100584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98080" y="548640"/>
            <a:ext cx="45720" cy="45720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235440" y="128016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0" y="2011680"/>
            <a:ext cx="45720" cy="45720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92608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0" y="2560320"/>
            <a:ext cx="27432" cy="27432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0" y="3200400"/>
            <a:ext cx="45720" cy="45720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15600" y="347472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828800" y="5029200"/>
            <a:ext cx="45720" cy="45720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0" y="566928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0" y="5303520"/>
            <a:ext cx="54864" cy="54864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430000" y="594360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6217920"/>
            <a:ext cx="27432" cy="27432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6565392"/>
            <a:ext cx="11430000" cy="1097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60196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Store Cart &amp; Order Pipeline   ·   Team 13   ·   26SC1101E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18288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OUTCOME 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 — Problem to Program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457200" y="91440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0F1B33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1051560"/>
            <a:ext cx="320040" cy="320040"/>
          </a:xfrm>
          <a:prstGeom prst="ellipse">
            <a:avLst/>
          </a:prstGeom>
          <a:solidFill>
            <a:srgbClr val="083344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1051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43000" y="1024128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Thinking &amp; IPO analysis for Online Store (User, Product, Cart, Order)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1572768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0F1B33"/>
          </a:solidFill>
          <a:ln/>
        </p:spPr>
      </p:sp>
      <p:sp>
        <p:nvSpPr>
          <p:cNvPr id="32" name="Shape 30"/>
          <p:cNvSpPr/>
          <p:nvPr/>
        </p:nvSpPr>
        <p:spPr>
          <a:xfrm>
            <a:off x="640080" y="1709928"/>
            <a:ext cx="320040" cy="320040"/>
          </a:xfrm>
          <a:prstGeom prst="ellipse">
            <a:avLst/>
          </a:prstGeom>
          <a:solidFill>
            <a:srgbClr val="083344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17099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43000" y="1682496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charter: clear inputs, processing rules, expected outputs and edge cases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2231136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0F1B33"/>
          </a:solidFill>
          <a:ln/>
        </p:spPr>
      </p:sp>
      <p:sp>
        <p:nvSpPr>
          <p:cNvPr id="36" name="Shape 34"/>
          <p:cNvSpPr/>
          <p:nvPr/>
        </p:nvSpPr>
        <p:spPr>
          <a:xfrm>
            <a:off x="640080" y="2368296"/>
            <a:ext cx="320040" cy="320040"/>
          </a:xfrm>
          <a:prstGeom prst="ellipse">
            <a:avLst/>
          </a:prstGeom>
          <a:solidFill>
            <a:srgbClr val="083344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23682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43000" y="2340864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Algorithms, pseudocode and flowcharts for registration, browse and add-to-cart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7200" y="2889504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0F1B33"/>
          </a:solidFill>
          <a:ln/>
        </p:spPr>
      </p:sp>
      <p:sp>
        <p:nvSpPr>
          <p:cNvPr id="40" name="Shape 38"/>
          <p:cNvSpPr/>
          <p:nvPr/>
        </p:nvSpPr>
        <p:spPr>
          <a:xfrm>
            <a:off x="640080" y="3026664"/>
            <a:ext cx="320040" cy="320040"/>
          </a:xfrm>
          <a:prstGeom prst="ellipse">
            <a:avLst/>
          </a:prstGeom>
          <a:solidFill>
            <a:srgbClr val="083344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3026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43000" y="2999232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Variables, identifiers, literals, constants and primitive data types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57200" y="3547872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0F1B33"/>
          </a:solidFill>
          <a:ln/>
        </p:spPr>
      </p:sp>
      <p:sp>
        <p:nvSpPr>
          <p:cNvPr id="44" name="Shape 42"/>
          <p:cNvSpPr/>
          <p:nvPr/>
        </p:nvSpPr>
        <p:spPr>
          <a:xfrm>
            <a:off x="640080" y="3685032"/>
            <a:ext cx="320040" cy="320040"/>
          </a:xfrm>
          <a:prstGeom prst="ellipse">
            <a:avLst/>
          </a:prstGeom>
          <a:solidFill>
            <a:srgbClr val="083344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36850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143000" y="3657600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Operators, expressions, precedence and decision logic for price calculations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57200" y="420624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0F1B33"/>
          </a:solidFill>
          <a:ln/>
        </p:spPr>
      </p:sp>
      <p:sp>
        <p:nvSpPr>
          <p:cNvPr id="48" name="Shape 46"/>
          <p:cNvSpPr/>
          <p:nvPr/>
        </p:nvSpPr>
        <p:spPr>
          <a:xfrm>
            <a:off x="640080" y="4343400"/>
            <a:ext cx="320040" cy="320040"/>
          </a:xfrm>
          <a:prstGeom prst="ellipse">
            <a:avLst/>
          </a:prstGeom>
          <a:solidFill>
            <a:srgbClr val="083344"/>
          </a:solidFill>
          <a:ln/>
        </p:spPr>
      </p:sp>
      <p:sp>
        <p:nvSpPr>
          <p:cNvPr id="49" name="Text 47"/>
          <p:cNvSpPr/>
          <p:nvPr/>
        </p:nvSpPr>
        <p:spPr>
          <a:xfrm>
            <a:off x="640080" y="4343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143000" y="4315968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conversion and casting (int ↔ double for totals)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57200" y="4864608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0F1B33"/>
          </a:solidFill>
          <a:ln/>
        </p:spPr>
      </p:sp>
      <p:sp>
        <p:nvSpPr>
          <p:cNvPr id="52" name="Shape 50"/>
          <p:cNvSpPr/>
          <p:nvPr/>
        </p:nvSpPr>
        <p:spPr>
          <a:xfrm>
            <a:off x="640080" y="5001768"/>
            <a:ext cx="320040" cy="320040"/>
          </a:xfrm>
          <a:prstGeom prst="ellipse">
            <a:avLst/>
          </a:prstGeom>
          <a:solidFill>
            <a:srgbClr val="083344"/>
          </a:solidFill>
          <a:ln/>
        </p:spPr>
      </p:sp>
      <p:sp>
        <p:nvSpPr>
          <p:cNvPr id="53" name="Text 51"/>
          <p:cNvSpPr/>
          <p:nvPr/>
        </p:nvSpPr>
        <p:spPr>
          <a:xfrm>
            <a:off x="640080" y="50017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143000" y="4974336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 and formatted console I/O for menu-driven interaction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457200" y="5522976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0F1B33"/>
          </a:solidFill>
          <a:ln/>
        </p:spPr>
      </p:sp>
      <p:sp>
        <p:nvSpPr>
          <p:cNvPr id="56" name="Shape 54"/>
          <p:cNvSpPr/>
          <p:nvPr/>
        </p:nvSpPr>
        <p:spPr>
          <a:xfrm>
            <a:off x="640080" y="5660136"/>
            <a:ext cx="320040" cy="320040"/>
          </a:xfrm>
          <a:prstGeom prst="ellipse">
            <a:avLst/>
          </a:prstGeom>
          <a:solidFill>
            <a:srgbClr val="083344"/>
          </a:solidFill>
          <a:ln/>
        </p:spPr>
      </p:sp>
      <p:sp>
        <p:nvSpPr>
          <p:cNvPr id="57" name="Text 55"/>
          <p:cNvSpPr/>
          <p:nvPr/>
        </p:nvSpPr>
        <p:spPr>
          <a:xfrm>
            <a:off x="640080" y="56601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143000" y="5632704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CO1 completion: sequential program — register → browse → add to cart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8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0C4A6E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572000"/>
            <a:ext cx="3657600" cy="3657600"/>
          </a:xfrm>
          <a:prstGeom prst="ellipse">
            <a:avLst/>
          </a:prstGeom>
          <a:solidFill>
            <a:srgbClr val="4C1D95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0" y="4114800"/>
            <a:ext cx="2011680" cy="2011680"/>
          </a:xfrm>
          <a:prstGeom prst="ellipse">
            <a:avLst/>
          </a:prstGeom>
          <a:solidFill>
            <a:srgbClr val="0E7490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731520"/>
            <a:ext cx="54864" cy="54864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200400" y="100584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98080" y="548640"/>
            <a:ext cx="45720" cy="45720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235440" y="128016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0" y="2011680"/>
            <a:ext cx="45720" cy="45720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92608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0" y="2560320"/>
            <a:ext cx="27432" cy="27432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0" y="3200400"/>
            <a:ext cx="45720" cy="45720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15600" y="347472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828800" y="5029200"/>
            <a:ext cx="45720" cy="45720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0" y="566928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0" y="5303520"/>
            <a:ext cx="54864" cy="54864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430000" y="594360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6217920"/>
            <a:ext cx="27432" cy="27432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6565392"/>
            <a:ext cx="11430000" cy="1097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60196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Store Cart &amp; Order Pipeline   ·   Team 13   ·   26SC1101E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18288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OUTCOME 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&amp; Loops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365760" y="960120"/>
            <a:ext cx="5577840" cy="1143000"/>
          </a:xfrm>
          <a:prstGeom prst="roundRect">
            <a:avLst>
              <a:gd name="adj" fmla="val 8000"/>
            </a:avLst>
          </a:prstGeom>
          <a:solidFill>
            <a:srgbClr val="0F1B33"/>
          </a:solidFill>
          <a:ln/>
        </p:spPr>
      </p:sp>
      <p:sp>
        <p:nvSpPr>
          <p:cNvPr id="28" name="Shape 26"/>
          <p:cNvSpPr/>
          <p:nvPr/>
        </p:nvSpPr>
        <p:spPr>
          <a:xfrm>
            <a:off x="365760" y="960120"/>
            <a:ext cx="73152" cy="11430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1143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/ if-else / nested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1508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validation, stock checks &amp; discount eligibility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65760" y="2240280"/>
            <a:ext cx="5577840" cy="1143000"/>
          </a:xfrm>
          <a:prstGeom prst="roundRect">
            <a:avLst>
              <a:gd name="adj" fmla="val 8000"/>
            </a:avLst>
          </a:prstGeom>
          <a:solidFill>
            <a:srgbClr val="0F1B33"/>
          </a:solidFill>
          <a:ln/>
        </p:spPr>
      </p:sp>
      <p:sp>
        <p:nvSpPr>
          <p:cNvPr id="32" name="Shape 30"/>
          <p:cNvSpPr/>
          <p:nvPr/>
        </p:nvSpPr>
        <p:spPr>
          <a:xfrm>
            <a:off x="365760" y="2240280"/>
            <a:ext cx="73152" cy="11430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2423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if-else-if ladder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" y="27889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status: Placed → Confirmed → Shipped → Delivered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65760" y="3520440"/>
            <a:ext cx="5577840" cy="1143000"/>
          </a:xfrm>
          <a:prstGeom prst="roundRect">
            <a:avLst>
              <a:gd name="adj" fmla="val 8000"/>
            </a:avLst>
          </a:prstGeom>
          <a:solidFill>
            <a:srgbClr val="0F1B33"/>
          </a:solidFill>
          <a:ln/>
        </p:spPr>
      </p:sp>
      <p:sp>
        <p:nvSpPr>
          <p:cNvPr id="36" name="Shape 34"/>
          <p:cNvSpPr/>
          <p:nvPr/>
        </p:nvSpPr>
        <p:spPr>
          <a:xfrm>
            <a:off x="365760" y="3520440"/>
            <a:ext cx="73152" cy="11430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3703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statement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0080" y="4069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menu: Browse / Cart / Checkout / Track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65760" y="4800600"/>
            <a:ext cx="5577840" cy="1143000"/>
          </a:xfrm>
          <a:prstGeom prst="roundRect">
            <a:avLst>
              <a:gd name="adj" fmla="val 8000"/>
            </a:avLst>
          </a:prstGeom>
          <a:solidFill>
            <a:srgbClr val="0F1B33"/>
          </a:solidFill>
          <a:ln/>
        </p:spPr>
      </p:sp>
      <p:sp>
        <p:nvSpPr>
          <p:cNvPr id="40" name="Shape 38"/>
          <p:cNvSpPr/>
          <p:nvPr/>
        </p:nvSpPr>
        <p:spPr>
          <a:xfrm>
            <a:off x="365760" y="4800600"/>
            <a:ext cx="73152" cy="11430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983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 logic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40080" y="53492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tables for payment &amp; coupon rules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217920" y="960120"/>
            <a:ext cx="5577840" cy="1143000"/>
          </a:xfrm>
          <a:prstGeom prst="roundRect">
            <a:avLst>
              <a:gd name="adj" fmla="val 8000"/>
            </a:avLst>
          </a:prstGeom>
          <a:solidFill>
            <a:srgbClr val="0F1B33"/>
          </a:solidFill>
          <a:ln/>
        </p:spPr>
      </p:sp>
      <p:sp>
        <p:nvSpPr>
          <p:cNvPr id="44" name="Shape 42"/>
          <p:cNvSpPr/>
          <p:nvPr/>
        </p:nvSpPr>
        <p:spPr>
          <a:xfrm>
            <a:off x="6217920" y="960120"/>
            <a:ext cx="73152" cy="1143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5" name="Text 43"/>
          <p:cNvSpPr/>
          <p:nvPr/>
        </p:nvSpPr>
        <p:spPr>
          <a:xfrm>
            <a:off x="6492240" y="1143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loops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492240" y="1508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product catalog and display cart items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217920" y="2240280"/>
            <a:ext cx="5577840" cy="1143000"/>
          </a:xfrm>
          <a:prstGeom prst="roundRect">
            <a:avLst>
              <a:gd name="adj" fmla="val 8000"/>
            </a:avLst>
          </a:prstGeom>
          <a:solidFill>
            <a:srgbClr val="0F1B33"/>
          </a:solidFill>
          <a:ln/>
        </p:spPr>
      </p:sp>
      <p:sp>
        <p:nvSpPr>
          <p:cNvPr id="48" name="Shape 46"/>
          <p:cNvSpPr/>
          <p:nvPr/>
        </p:nvSpPr>
        <p:spPr>
          <a:xfrm>
            <a:off x="6217920" y="2240280"/>
            <a:ext cx="73152" cy="1143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9" name="Text 47"/>
          <p:cNvSpPr/>
          <p:nvPr/>
        </p:nvSpPr>
        <p:spPr>
          <a:xfrm>
            <a:off x="6492240" y="2423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loops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492240" y="27889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processing until user exits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217920" y="3520440"/>
            <a:ext cx="5577840" cy="1143000"/>
          </a:xfrm>
          <a:prstGeom prst="roundRect">
            <a:avLst>
              <a:gd name="adj" fmla="val 8000"/>
            </a:avLst>
          </a:prstGeom>
          <a:solidFill>
            <a:srgbClr val="0F1B33"/>
          </a:solidFill>
          <a:ln/>
        </p:spPr>
      </p:sp>
      <p:sp>
        <p:nvSpPr>
          <p:cNvPr id="52" name="Shape 50"/>
          <p:cNvSpPr/>
          <p:nvPr/>
        </p:nvSpPr>
        <p:spPr>
          <a:xfrm>
            <a:off x="6217920" y="3520440"/>
            <a:ext cx="73152" cy="1143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3" name="Text 51"/>
          <p:cNvSpPr/>
          <p:nvPr/>
        </p:nvSpPr>
        <p:spPr>
          <a:xfrm>
            <a:off x="6492240" y="3703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/ continue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492240" y="4069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out-of-stock, stop on payment failure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217920" y="4800600"/>
            <a:ext cx="5577840" cy="1143000"/>
          </a:xfrm>
          <a:prstGeom prst="roundRect">
            <a:avLst>
              <a:gd name="adj" fmla="val 8000"/>
            </a:avLst>
          </a:prstGeom>
          <a:solidFill>
            <a:srgbClr val="0F1B33"/>
          </a:solidFill>
          <a:ln/>
        </p:spPr>
      </p:sp>
      <p:sp>
        <p:nvSpPr>
          <p:cNvPr id="56" name="Shape 54"/>
          <p:cNvSpPr/>
          <p:nvPr/>
        </p:nvSpPr>
        <p:spPr>
          <a:xfrm>
            <a:off x="6217920" y="4800600"/>
            <a:ext cx="73152" cy="1143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7" name="Text 55"/>
          <p:cNvSpPr/>
          <p:nvPr/>
        </p:nvSpPr>
        <p:spPr>
          <a:xfrm>
            <a:off x="6492240" y="4983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→ Path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6492240" y="53492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rules become runnable decisions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8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0C4A6E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572000"/>
            <a:ext cx="3657600" cy="3657600"/>
          </a:xfrm>
          <a:prstGeom prst="ellipse">
            <a:avLst/>
          </a:prstGeom>
          <a:solidFill>
            <a:srgbClr val="4C1D95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0" y="4114800"/>
            <a:ext cx="2011680" cy="2011680"/>
          </a:xfrm>
          <a:prstGeom prst="ellipse">
            <a:avLst/>
          </a:prstGeom>
          <a:solidFill>
            <a:srgbClr val="0E7490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731520"/>
            <a:ext cx="54864" cy="54864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200400" y="100584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98080" y="548640"/>
            <a:ext cx="45720" cy="45720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235440" y="128016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0" y="2011680"/>
            <a:ext cx="45720" cy="45720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92608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0" y="2560320"/>
            <a:ext cx="27432" cy="27432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0" y="3200400"/>
            <a:ext cx="45720" cy="45720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15600" y="347472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828800" y="5029200"/>
            <a:ext cx="45720" cy="45720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0" y="566928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0" y="5303520"/>
            <a:ext cx="54864" cy="54864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430000" y="594360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6217920"/>
            <a:ext cx="27432" cy="27432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6565392"/>
            <a:ext cx="11430000" cy="1097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60196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Store Cart &amp; Order Pipeline   ·   Team 13   ·   26SC1101E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18288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OUTCOME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Methods, Arrays &amp; Algorithms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365760" y="1005840"/>
            <a:ext cx="3749040" cy="2331720"/>
          </a:xfrm>
          <a:prstGeom prst="roundRect">
            <a:avLst>
              <a:gd name="adj" fmla="val 4706"/>
            </a:avLst>
          </a:prstGeom>
          <a:solidFill>
            <a:srgbClr val="0F1B33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12801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94360" y="1828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Methods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94360" y="22860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displayMenu(), calculateTotal(), applyDiscount(), printInvoice()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297680" y="1005840"/>
            <a:ext cx="3749040" cy="2331720"/>
          </a:xfrm>
          <a:prstGeom prst="roundRect">
            <a:avLst>
              <a:gd name="adj" fmla="val 4706"/>
            </a:avLst>
          </a:prstGeom>
          <a:solidFill>
            <a:srgbClr val="0F1B33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12801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526280" y="1828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Movement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526280" y="22860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Parameters, pass-by-value, return values for price &amp; quantity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229600" y="1005840"/>
            <a:ext cx="3749040" cy="2331720"/>
          </a:xfrm>
          <a:prstGeom prst="roundRect">
            <a:avLst>
              <a:gd name="adj" fmla="val 4706"/>
            </a:avLst>
          </a:prstGeom>
          <a:solidFill>
            <a:srgbClr val="0F1B33"/>
          </a:solidFill>
          <a:ln/>
        </p:spPr>
      </p:sp>
      <p:sp>
        <p:nvSpPr>
          <p:cNvPr id="36" name="Text 34"/>
          <p:cNvSpPr/>
          <p:nvPr/>
        </p:nvSpPr>
        <p:spPr>
          <a:xfrm>
            <a:off x="8458200" y="12801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8458200" y="1828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Overloading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458200" y="22860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by name, category or price range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65760" y="3566160"/>
            <a:ext cx="3749040" cy="2331720"/>
          </a:xfrm>
          <a:prstGeom prst="roundRect">
            <a:avLst>
              <a:gd name="adj" fmla="val 4706"/>
            </a:avLst>
          </a:prstGeom>
          <a:solidFill>
            <a:srgbClr val="0F1B33"/>
          </a:solidFill>
          <a:ln/>
        </p:spPr>
      </p:sp>
      <p:sp>
        <p:nvSpPr>
          <p:cNvPr id="40" name="Text 38"/>
          <p:cNvSpPr/>
          <p:nvPr/>
        </p:nvSpPr>
        <p:spPr>
          <a:xfrm>
            <a:off x="594360" y="3840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94360" y="4389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1D Arrays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594360" y="484632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catalog and current cart items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297680" y="3566160"/>
            <a:ext cx="3749040" cy="2331720"/>
          </a:xfrm>
          <a:prstGeom prst="roundRect">
            <a:avLst>
              <a:gd name="adj" fmla="val 4706"/>
            </a:avLst>
          </a:prstGeom>
          <a:solidFill>
            <a:srgbClr val="0F1B33"/>
          </a:solidFill>
          <a:ln/>
        </p:spPr>
      </p:sp>
      <p:sp>
        <p:nvSpPr>
          <p:cNvPr id="44" name="Text 42"/>
          <p:cNvSpPr/>
          <p:nvPr/>
        </p:nvSpPr>
        <p:spPr>
          <a:xfrm>
            <a:off x="4526280" y="3840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4526280" y="4389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&amp; Sort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4526280" y="484632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search, bubble &amp; selection sort for ranking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229600" y="3566160"/>
            <a:ext cx="3749040" cy="2331720"/>
          </a:xfrm>
          <a:prstGeom prst="roundRect">
            <a:avLst>
              <a:gd name="adj" fmla="val 4706"/>
            </a:avLst>
          </a:prstGeom>
          <a:solidFill>
            <a:srgbClr val="0F1B33"/>
          </a:solidFill>
          <a:ln/>
        </p:spPr>
      </p:sp>
      <p:sp>
        <p:nvSpPr>
          <p:cNvPr id="48" name="Text 46"/>
          <p:cNvSpPr/>
          <p:nvPr/>
        </p:nvSpPr>
        <p:spPr>
          <a:xfrm>
            <a:off x="8458200" y="3840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8458200" y="4389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Arrays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8458200" y="484632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history as rows × columns matrix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8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0C4A6E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572000"/>
            <a:ext cx="3657600" cy="3657600"/>
          </a:xfrm>
          <a:prstGeom prst="ellipse">
            <a:avLst/>
          </a:prstGeom>
          <a:solidFill>
            <a:srgbClr val="4C1D95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0" y="4114800"/>
            <a:ext cx="2011680" cy="2011680"/>
          </a:xfrm>
          <a:prstGeom prst="ellipse">
            <a:avLst/>
          </a:prstGeom>
          <a:solidFill>
            <a:srgbClr val="0E7490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731520"/>
            <a:ext cx="54864" cy="54864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200400" y="100584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98080" y="548640"/>
            <a:ext cx="45720" cy="45720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235440" y="128016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0" y="2011680"/>
            <a:ext cx="45720" cy="45720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92608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0" y="2560320"/>
            <a:ext cx="27432" cy="27432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0" y="3200400"/>
            <a:ext cx="45720" cy="45720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15600" y="347472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828800" y="5029200"/>
            <a:ext cx="45720" cy="45720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0" y="566928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0" y="5303520"/>
            <a:ext cx="54864" cy="54864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430000" y="594360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6217920"/>
            <a:ext cx="27432" cy="27432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6565392"/>
            <a:ext cx="11430000" cy="1097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60196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Store Cart &amp; Order Pipeline   ·   Team 13   ·   26SC1101E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18288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OUTCOME 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Object-Oriented Design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365760" y="960120"/>
            <a:ext cx="5715000" cy="1143000"/>
          </a:xfrm>
          <a:prstGeom prst="roundRect">
            <a:avLst>
              <a:gd name="adj" fmla="val 8000"/>
            </a:avLst>
          </a:prstGeom>
          <a:solidFill>
            <a:srgbClr val="0F1B33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112471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Encapsulation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94360" y="14630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state + getters/setters + toString() for User, Product, Cart, Order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63640" y="960120"/>
            <a:ext cx="5715000" cy="1143000"/>
          </a:xfrm>
          <a:prstGeom prst="roundRect">
            <a:avLst>
              <a:gd name="adj" fmla="val 8000"/>
            </a:avLst>
          </a:prstGeom>
          <a:solidFill>
            <a:srgbClr val="0F1B33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112471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members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92240" y="14630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Store-wide counters: totalOrders, nextOrderId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2240280"/>
            <a:ext cx="5715000" cy="1143000"/>
          </a:xfrm>
          <a:prstGeom prst="roundRect">
            <a:avLst>
              <a:gd name="adj" fmla="val 8000"/>
            </a:avLst>
          </a:prstGeom>
          <a:solidFill>
            <a:srgbClr val="0F1B33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240487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 &amp; Composition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94360" y="27432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 has Products • Order has User and CartItems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63640" y="2240280"/>
            <a:ext cx="5715000" cy="1143000"/>
          </a:xfrm>
          <a:prstGeom prst="roundRect">
            <a:avLst>
              <a:gd name="adj" fmla="val 8000"/>
            </a:avLst>
          </a:prstGeom>
          <a:solidFill>
            <a:srgbClr val="0F1B33"/>
          </a:solidFill>
          <a:ln/>
        </p:spPr>
      </p:sp>
      <p:sp>
        <p:nvSpPr>
          <p:cNvPr id="37" name="Text 35"/>
          <p:cNvSpPr/>
          <p:nvPr/>
        </p:nvSpPr>
        <p:spPr>
          <a:xfrm>
            <a:off x="6492240" y="240487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Inheritance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92240" y="27432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&amp; Admin roles extending common User base class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65760" y="3520440"/>
            <a:ext cx="5715000" cy="1143000"/>
          </a:xfrm>
          <a:prstGeom prst="roundRect">
            <a:avLst>
              <a:gd name="adj" fmla="val 8000"/>
            </a:avLst>
          </a:prstGeom>
          <a:solidFill>
            <a:srgbClr val="0F1B33"/>
          </a:solidFill>
          <a:ln/>
        </p:spPr>
      </p:sp>
      <p:sp>
        <p:nvSpPr>
          <p:cNvPr id="40" name="Text 38"/>
          <p:cNvSpPr/>
          <p:nvPr/>
        </p:nvSpPr>
        <p:spPr>
          <a:xfrm>
            <a:off x="594360" y="368503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Polymorphism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94360" y="40233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overriding for different customer vs admin views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263640" y="3520440"/>
            <a:ext cx="5715000" cy="1143000"/>
          </a:xfrm>
          <a:prstGeom prst="roundRect">
            <a:avLst>
              <a:gd name="adj" fmla="val 8000"/>
            </a:avLst>
          </a:prstGeom>
          <a:solidFill>
            <a:srgbClr val="0F1B33"/>
          </a:solidFill>
          <a:ln/>
        </p:spPr>
      </p:sp>
      <p:sp>
        <p:nvSpPr>
          <p:cNvPr id="43" name="Text 41"/>
          <p:cNvSpPr/>
          <p:nvPr/>
        </p:nvSpPr>
        <p:spPr>
          <a:xfrm>
            <a:off x="6492240" y="368503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&amp; Interfaces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492240" y="40233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Payable, Trackable, Searchable contracts + Packages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65760" y="4800600"/>
            <a:ext cx="5715000" cy="1143000"/>
          </a:xfrm>
          <a:prstGeom prst="roundRect">
            <a:avLst>
              <a:gd name="adj" fmla="val 8000"/>
            </a:avLst>
          </a:prstGeom>
          <a:solidFill>
            <a:srgbClr val="0F1B33"/>
          </a:solidFill>
          <a:ln/>
        </p:spPr>
      </p:sp>
      <p:sp>
        <p:nvSpPr>
          <p:cNvPr id="46" name="Text 44"/>
          <p:cNvSpPr/>
          <p:nvPr/>
        </p:nvSpPr>
        <p:spPr>
          <a:xfrm>
            <a:off x="594360" y="49651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Handling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94360" y="53035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try-catch-finally for invalid login, empty cart, payment failure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263640" y="4800600"/>
            <a:ext cx="5715000" cy="1143000"/>
          </a:xfrm>
          <a:prstGeom prst="roundRect">
            <a:avLst>
              <a:gd name="adj" fmla="val 8000"/>
            </a:avLst>
          </a:prstGeom>
          <a:solidFill>
            <a:srgbClr val="0F1B33"/>
          </a:solidFill>
          <a:ln/>
        </p:spPr>
      </p:sp>
      <p:sp>
        <p:nvSpPr>
          <p:cNvPr id="49" name="Text 47"/>
          <p:cNvSpPr/>
          <p:nvPr/>
        </p:nvSpPr>
        <p:spPr>
          <a:xfrm>
            <a:off x="6492240" y="49651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Architecture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492240" y="53035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classes ready for payment gateway &amp; admin dashboard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8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0C4A6E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572000"/>
            <a:ext cx="3657600" cy="3657600"/>
          </a:xfrm>
          <a:prstGeom prst="ellipse">
            <a:avLst/>
          </a:prstGeom>
          <a:solidFill>
            <a:srgbClr val="4C1D95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0" y="4114800"/>
            <a:ext cx="2011680" cy="2011680"/>
          </a:xfrm>
          <a:prstGeom prst="ellipse">
            <a:avLst/>
          </a:prstGeom>
          <a:solidFill>
            <a:srgbClr val="0E7490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731520"/>
            <a:ext cx="54864" cy="54864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200400" y="100584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98080" y="548640"/>
            <a:ext cx="45720" cy="45720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235440" y="128016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0" y="2011680"/>
            <a:ext cx="45720" cy="45720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92608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0" y="2560320"/>
            <a:ext cx="27432" cy="27432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0" y="3200400"/>
            <a:ext cx="45720" cy="45720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15600" y="347472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828800" y="5029200"/>
            <a:ext cx="45720" cy="45720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0" y="566928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0" y="5303520"/>
            <a:ext cx="54864" cy="54864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430000" y="594360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6217920"/>
            <a:ext cx="27432" cy="27432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6565392"/>
            <a:ext cx="11430000" cy="1097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60196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Store Cart &amp; Order Pipeline   ·   Team 13   ·   26SC1101E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16459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OUTCOMES 5 &amp; 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Strings, Files, Collections &amp; Streams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320040" y="868680"/>
            <a:ext cx="5669280" cy="5349240"/>
          </a:xfrm>
          <a:prstGeom prst="roundRect">
            <a:avLst>
              <a:gd name="adj" fmla="val 2051"/>
            </a:avLst>
          </a:prstGeom>
          <a:solidFill>
            <a:srgbClr val="0F1B33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" y="868680"/>
            <a:ext cx="5669280" cy="4572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9601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CO5  ·  Strings &amp; File Persistence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94360" y="155448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String handling for names, IDs, status messages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21488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equals() / compareTo() for correct comparison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4360" y="2743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StringBuilder for invoices &amp; order summaries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94360" y="33375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Parsing &amp; validating records (split, trim, parse)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94360" y="393192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Library sorting &amp; binary search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94360" y="452628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File Persistence with Path, Files, Buffered I/O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94360" y="51206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Load → Validate → Process → Persist workflow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217920" y="868680"/>
            <a:ext cx="5669280" cy="5349240"/>
          </a:xfrm>
          <a:prstGeom prst="roundRect">
            <a:avLst>
              <a:gd name="adj" fmla="val 2051"/>
            </a:avLst>
          </a:prstGeom>
          <a:solidFill>
            <a:srgbClr val="0F1B33"/>
          </a:solidFill>
          <a:ln/>
        </p:spPr>
      </p:sp>
      <p:sp>
        <p:nvSpPr>
          <p:cNvPr id="38" name="Shape 36"/>
          <p:cNvSpPr/>
          <p:nvPr/>
        </p:nvSpPr>
        <p:spPr>
          <a:xfrm>
            <a:off x="6217920" y="868680"/>
            <a:ext cx="5669280" cy="457200"/>
          </a:xfrm>
          <a:prstGeom prst="rect">
            <a:avLst/>
          </a:prstGeom>
          <a:solidFill>
            <a:srgbClr val="7C2D12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0" y="9601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CO6  ·  Collections &amp; Modern Java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92240" y="155448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ArrayList for dynamic cart &amp; product catalog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92240" y="21488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HashSet for unique IDs, HashMap for fast lookup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492240" y="2743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Queue for order processing pipeline (FIFO)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492240" y="33375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Generics &amp; safe collection traversal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492240" y="393192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Lambdas &amp; method references for rules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492240" y="452628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Stream pipelines + Collectors for reports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492240" y="51206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Optional for safe product / order lookup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8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0C4A6E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572000"/>
            <a:ext cx="3657600" cy="3657600"/>
          </a:xfrm>
          <a:prstGeom prst="ellipse">
            <a:avLst/>
          </a:prstGeom>
          <a:solidFill>
            <a:srgbClr val="4C1D95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0" y="4114800"/>
            <a:ext cx="2011680" cy="2011680"/>
          </a:xfrm>
          <a:prstGeom prst="ellipse">
            <a:avLst/>
          </a:prstGeom>
          <a:solidFill>
            <a:srgbClr val="0E7490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731520"/>
            <a:ext cx="54864" cy="54864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200400" y="100584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98080" y="548640"/>
            <a:ext cx="45720" cy="45720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235440" y="128016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0" y="2011680"/>
            <a:ext cx="45720" cy="45720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92608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0" y="2560320"/>
            <a:ext cx="27432" cy="27432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0" y="3200400"/>
            <a:ext cx="45720" cy="45720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15600" y="347472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828800" y="5029200"/>
            <a:ext cx="45720" cy="45720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0" y="566928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0" y="5303520"/>
            <a:ext cx="54864" cy="54864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430000" y="5943600"/>
            <a:ext cx="36576" cy="36576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6217920"/>
            <a:ext cx="27432" cy="27432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6565392"/>
            <a:ext cx="11430000" cy="1097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60196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Store Cart &amp; Order Pipeline   ·   Team 13   ·   26SC1101E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1828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Resources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365760" y="960120"/>
            <a:ext cx="11430000" cy="2468880"/>
          </a:xfrm>
          <a:prstGeom prst="roundRect">
            <a:avLst>
              <a:gd name="adj" fmla="val 4444"/>
            </a:avLst>
          </a:prstGeom>
          <a:solidFill>
            <a:srgbClr val="0F1B33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10972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150876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Successfully implemented a complete Online Store Cart &amp; Order Pipeline covering all CO1–CO6 concepts.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1947672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Demonstrated computational thinking, OOP, collections, streams and file persistence in e-commerce.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" y="2386584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Supports registration, browsing, cart, checkout simulation and order tracking with modular design.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" y="2825496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Ready for future enhancements: real payment gateway, recommendation engine and admin analytics.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3657600"/>
            <a:ext cx="5577840" cy="2468880"/>
          </a:xfrm>
          <a:prstGeom prst="roundRect">
            <a:avLst>
              <a:gd name="adj" fmla="val 4444"/>
            </a:avLst>
          </a:prstGeom>
          <a:solidFill>
            <a:srgbClr val="0F1B33"/>
          </a:solidFill>
          <a:ln w="15240">
            <a:solidFill>
              <a:srgbClr val="155E7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4" name="Text 32"/>
          <p:cNvSpPr/>
          <p:nvPr/>
        </p:nvSpPr>
        <p:spPr>
          <a:xfrm>
            <a:off x="640080" y="3931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" y="44348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>
                <a:hlinkClick r:id="rId3"/>
              </a:rPr>
              <a:t>mentalzerox5-jpg/PSPJ-PROJECT: ONLINE STORE CART &amp; ORDER PIPELINE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" y="5303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code  ·  setup guide  ·  features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17920" y="3657600"/>
            <a:ext cx="5577840" cy="2468880"/>
          </a:xfrm>
          <a:prstGeom prst="roundRect">
            <a:avLst>
              <a:gd name="adj" fmla="val 4444"/>
            </a:avLst>
          </a:prstGeom>
          <a:solidFill>
            <a:srgbClr val="0F1B33"/>
          </a:solidFill>
          <a:ln w="15240">
            <a:solidFill>
              <a:srgbClr val="1453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3931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 &amp; Geo Tag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92240" y="3991134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>
                <a:hlinkClick r:id="rId4"/>
              </a:rPr>
              <a:t>PSPJ-PROJECT/photo_2026-09-21 10.08.10.jpeg at main · mentalzerox5-jpg/PSPJ-PROJECT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EA1D06-28F5-BE4D-83A3-B74782142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80"/>
            <a:ext cx="12192000" cy="6849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818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947</Words>
  <Application>Microsoft Office PowerPoint</Application>
  <PresentationFormat>Widescreen</PresentationFormat>
  <Paragraphs>159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Store Cart &amp; Order Pipeline</dc:title>
  <dc:subject>PptxGenJS Presentation</dc:subject>
  <dc:creator>Team 13</dc:creator>
  <cp:lastModifiedBy>Sriram Abbaraju</cp:lastModifiedBy>
  <cp:revision>2</cp:revision>
  <dcterms:created xsi:type="dcterms:W3CDTF">2026-10-16T04:11:28Z</dcterms:created>
  <dcterms:modified xsi:type="dcterms:W3CDTF">2026-10-16T06:12:13Z</dcterms:modified>
</cp:coreProperties>
</file>